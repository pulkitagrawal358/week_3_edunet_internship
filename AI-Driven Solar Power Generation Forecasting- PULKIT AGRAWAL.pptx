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357397" y="2925147"/>
            <a:ext cx="7259216" cy="2041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3600" dirty="0">
                <a:solidFill>
                  <a:schemeClr val="bg1"/>
                </a:solidFill>
              </a:rPr>
              <a:t>AI-Driven Solar Power Generation Forecasting</a:t>
            </a:r>
          </a:p>
          <a:p>
            <a:pPr algn="r"/>
            <a:r>
              <a:rPr lang="en-I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PULKIT AGRAWAL</a:t>
            </a:r>
          </a:p>
          <a:p>
            <a:pPr algn="r"/>
            <a:r>
              <a:rPr lang="en-IN" b="1" dirty="0">
                <a:solidFill>
                  <a:schemeClr val="bg1"/>
                </a:solidFill>
              </a:rPr>
              <a:t>STU68862ef4593601753624308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83257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802880" y="1461382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83EF326-A779-D2E3-C08B-7C13A1462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04" y="1496930"/>
            <a:ext cx="810557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Preparation Mastery (Week 1):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Successfully executed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handle feature selection (removing low-variance features like precipitation), and establish data integrity.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Baseline Establishment (Week 2):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and validate a robust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Regressor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identifying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critical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(Angle of Incidence, Zenith, Shortwave Radiation).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Advanced Model Implementation (Week 3):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Master the specialized preprocessing steps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Scaling and Sequence Framing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required to successfully build and train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 Short-Term Memory (LSTM)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neural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Evaluation: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Rigorously compared the final LSTM RMSE against the baseline RMSE to quantify the project's technical success.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315324-C70E-3550-F4B0-4AFBB58A772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3672" y="1571953"/>
            <a:ext cx="1186348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&amp; Core Libraries (Python):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	1.) Pandas &amp; NumPy: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Essential for data loading, cleaning, transformation (Week 1), and converting data into the required 3D arrays for the LSTM model (Week 3).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2.)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Scikit-learn (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Sklearn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):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Used for data splitting, implementing the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Random Forest Regressor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(Week 2 Baseline), and calculating performance metrics (RMSE).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Framework: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1.)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TensorFlow / 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Keras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The core framework used to build, compile, and train the advanced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Long Short-Term Memory (LSTM)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Neural Network (Week 3).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1.)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Matplotlib &amp; Seaborn: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Used for Exploratory Data Analysis (EDA) and plotting the crucial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Feature Importance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chart (Week 2) and the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Actual vs. Predicted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comparison (Week 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00405" y="81871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51710D-E204-4560-CAEE-285536A0B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322102"/>
            <a:ext cx="1219200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Foundation &amp; Baseline Establishment (Weeks 1 &amp; 2):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1.)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Foundation: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Loaded and cleaned the </a:t>
            </a:r>
            <a:r>
              <a:rPr lang="en-US" altLang="en-US" sz="1600" dirty="0">
                <a:solidFill>
                  <a:schemeClr val="tx1"/>
                </a:solidFill>
                <a:latin typeface="Arial Unicode MS"/>
              </a:rPr>
              <a:t>spg.csv</a:t>
            </a:r>
            <a:r>
              <a:rPr lang="en-US" altLang="en-US" sz="1600" dirty="0">
                <a:solidFill>
                  <a:schemeClr val="tx1"/>
                </a:solidFill>
              </a:rPr>
              <a:t> dataset, discarding low-variance features (like precipitation).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2.)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Baseline: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Implemented the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Random Forest Regressor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to determine feature importance (identifying Shortwave Radiation and Zenith as key drivers) and established the initial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RMSE benchmark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for project success.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Advanced Sequential Preprocessing (Week 3 Preparation):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1.)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Normalization: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Applied </a:t>
            </a:r>
            <a:r>
              <a:rPr lang="en-US" altLang="en-US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MinMaxScaler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to normalize all features, stabilizing the training process for the neural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2.)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Sequence Framing: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Performed the critical step of transforming the tabular data into the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3D Sequential Format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(Time Steps, Features) using a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look-back window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to prepare the data specifically for time-series forecasting with the LSTM.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Deep Learning Implementation &amp; Final Evaluation (Week 3 Execution):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1.)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Model Build: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Constructed a multi-layered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LSTM Neural Network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using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Keras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, incorporating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Dropout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to prevent overfitting.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2.)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Success Metric: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Trained the model and calculated the final, reduced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RMSE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score, proving the superiority of the sequential Deep Learning approach over the classical machine learning baseline.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D22A38-0315-399D-3A92-5430A9B8F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2007625"/>
            <a:ext cx="1178067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Intermittency and Noise: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Solar power generation is highly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volatile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non-linear. Output changes drastically and rapidly due to factors like passing clouds, changes in humidity, and rapid fluctuations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Shortwave Radiation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Operational Risk: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Inaccurate forecasts force energy grid operators to keep vast amounts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spinning reserve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(backup power), leading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operational costs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inefficient use of resources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Modeling Limitation: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Classical machine learning models (like linear regression) often fail to capture the complex, non-linear,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time-dependent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relationship where current power output is highly correlated with patterns observed 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immediate past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Economic 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Forecasting errors directly result in financial penalties and missed opportunities in competitive energy markets, highlighting the need for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 tool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0" y="765163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647F7-2435-1B79-3129-490E2EE0E130}"/>
              </a:ext>
            </a:extLst>
          </p:cNvPr>
          <p:cNvSpPr txBox="1"/>
          <p:nvPr/>
        </p:nvSpPr>
        <p:spPr>
          <a:xfrm>
            <a:off x="0" y="1179522"/>
            <a:ext cx="1219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400" b="1" dirty="0">
                <a:effectLst/>
              </a:rPr>
              <a:t>1. </a:t>
            </a:r>
            <a:r>
              <a:rPr lang="en-US" sz="1400" b="1" u="sng" dirty="0">
                <a:effectLst/>
              </a:rPr>
              <a:t>Sequential Data Preprocessing (Mandatory for LSTM)</a:t>
            </a:r>
            <a:r>
              <a:rPr lang="en-US" sz="1400" b="1" dirty="0">
                <a:effectLst/>
              </a:rPr>
              <a:t>- </a:t>
            </a:r>
            <a:r>
              <a:rPr lang="en-US" sz="1400" dirty="0">
                <a:effectLst/>
              </a:rPr>
              <a:t>The primary improvisation for Week 3 was transforming the tabular data into a sequence format.</a:t>
            </a:r>
          </a:p>
          <a:p>
            <a:pPr rtl="0"/>
            <a:endParaRPr lang="en-US" sz="1400" b="1" dirty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</a:rPr>
              <a:t> Data Normalization:</a:t>
            </a:r>
            <a:r>
              <a:rPr lang="en-US" sz="1400" dirty="0">
                <a:effectLst/>
              </a:rPr>
              <a:t> All features were scaled to a range of 0 to 1 using </a:t>
            </a:r>
            <a:r>
              <a:rPr lang="en-US" sz="1400" b="1" dirty="0" err="1">
                <a:effectLst/>
              </a:rPr>
              <a:t>MinMaxScaler</a:t>
            </a:r>
            <a:r>
              <a:rPr lang="en-US" sz="1400" dirty="0">
                <a:effectLst/>
              </a:rPr>
              <a:t>. This is essential to ensure the stability and rapid convergence of the neural network during training.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US" sz="1400" b="1" dirty="0">
              <a:effectLst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</a:rPr>
              <a:t> Sequence Framing:</a:t>
            </a:r>
            <a:r>
              <a:rPr lang="en-US" sz="1400" dirty="0">
                <a:effectLst/>
              </a:rPr>
              <a:t> The data was restructured into a </a:t>
            </a:r>
            <a:r>
              <a:rPr lang="en-US" sz="1400" b="1" dirty="0">
                <a:effectLst/>
              </a:rPr>
              <a:t>3D Array</a:t>
            </a:r>
            <a:r>
              <a:rPr lang="en-US" sz="1400" dirty="0">
                <a:effectLst/>
              </a:rPr>
              <a:t> of the shape: </a:t>
            </a:r>
            <a:r>
              <a:rPr lang="en-US" sz="1400" dirty="0">
                <a:effectLst/>
                <a:latin typeface="+mj-lt"/>
              </a:rPr>
              <a:t>(Samples, Time Steps, Features).</a:t>
            </a:r>
          </a:p>
          <a:p>
            <a:pPr rtl="0">
              <a:buNone/>
            </a:pPr>
            <a:endParaRPr lang="en-US" sz="1400" b="1" dirty="0">
              <a:effectLst/>
            </a:endParaRPr>
          </a:p>
          <a:p>
            <a:pPr rtl="0">
              <a:buNone/>
            </a:pPr>
            <a:r>
              <a:rPr lang="en-US" sz="1400" b="1" dirty="0">
                <a:effectLst/>
              </a:rPr>
              <a:t>2. </a:t>
            </a:r>
            <a:r>
              <a:rPr lang="en-US" sz="1400" b="1" u="sng" dirty="0">
                <a:effectLst/>
              </a:rPr>
              <a:t>LSTM Model Architecture (</a:t>
            </a:r>
            <a:r>
              <a:rPr lang="en-US" sz="1400" b="1" u="sng" dirty="0" err="1">
                <a:effectLst/>
              </a:rPr>
              <a:t>Keras</a:t>
            </a:r>
            <a:r>
              <a:rPr lang="en-US" sz="1400" b="1" u="sng" dirty="0">
                <a:effectLst/>
              </a:rPr>
              <a:t>/TensorFlow)</a:t>
            </a:r>
            <a:r>
              <a:rPr lang="en-US" sz="1400" b="1" dirty="0">
                <a:effectLst/>
              </a:rPr>
              <a:t>- </a:t>
            </a:r>
            <a:r>
              <a:rPr lang="en-US" sz="1400" dirty="0">
                <a:effectLst/>
              </a:rPr>
              <a:t>The LSTM was chosen for its ability to remember and process long-term dependencies in sequential data, unlike simple ML models.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US" sz="1400" b="1" dirty="0">
              <a:effectLst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</a:rPr>
              <a:t> Input Layer:</a:t>
            </a:r>
            <a:r>
              <a:rPr lang="en-US" sz="1400" dirty="0">
                <a:effectLst/>
              </a:rPr>
              <a:t> Receives the sequenced data, defined by the Time Steps and the number of input Features (e.g., 18 meteorological and angle features).</a:t>
            </a:r>
          </a:p>
          <a:p>
            <a:pPr rtl="0"/>
            <a:endParaRPr lang="en-US" sz="1400" b="1" dirty="0">
              <a:effectLst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</a:rPr>
              <a:t> Hidden Layers:</a:t>
            </a:r>
          </a:p>
          <a:p>
            <a:pPr rtl="0"/>
            <a:endParaRPr lang="en-US" sz="1400" b="1" dirty="0">
              <a:effectLst/>
            </a:endParaRPr>
          </a:p>
          <a:p>
            <a:pPr rtl="0"/>
            <a:r>
              <a:rPr lang="en-US" sz="1400" b="1" dirty="0"/>
              <a:t>	</a:t>
            </a:r>
            <a:r>
              <a:rPr lang="en-US" sz="1400" dirty="0"/>
              <a:t>1.)</a:t>
            </a:r>
            <a:r>
              <a:rPr lang="en-US" sz="1400" b="1" dirty="0"/>
              <a:t> </a:t>
            </a:r>
            <a:r>
              <a:rPr lang="en-US" sz="1400" dirty="0">
                <a:effectLst/>
              </a:rPr>
              <a:t>Implemented </a:t>
            </a:r>
            <a:r>
              <a:rPr lang="en-US" sz="1400" b="1" dirty="0">
                <a:effectLst/>
              </a:rPr>
              <a:t>Stacked LSTM Layers</a:t>
            </a:r>
            <a:r>
              <a:rPr lang="en-US" sz="1400" dirty="0">
                <a:effectLst/>
              </a:rPr>
              <a:t> (e.g., two layers of 50 units each) to extract complex temporal features.</a:t>
            </a:r>
          </a:p>
          <a:p>
            <a:pPr rtl="0"/>
            <a:r>
              <a:rPr lang="en-US" sz="1400" dirty="0"/>
              <a:t>	2.) </a:t>
            </a:r>
            <a:r>
              <a:rPr lang="en-US" sz="1400" dirty="0">
                <a:effectLst/>
              </a:rPr>
              <a:t>Included </a:t>
            </a:r>
            <a:r>
              <a:rPr lang="en-US" sz="1400" b="1" dirty="0">
                <a:effectLst/>
              </a:rPr>
              <a:t>Dropout Layers</a:t>
            </a:r>
            <a:r>
              <a:rPr lang="en-US" sz="1400" dirty="0">
                <a:effectLst/>
              </a:rPr>
              <a:t> (e.g., 0.2) after each LSTM to prevent </a:t>
            </a:r>
            <a:r>
              <a:rPr lang="en-US" sz="1400" b="1" dirty="0">
                <a:effectLst/>
              </a:rPr>
              <a:t>overfitting</a:t>
            </a:r>
            <a:r>
              <a:rPr lang="en-US" sz="1400" dirty="0">
                <a:effectLst/>
              </a:rPr>
              <a:t> and ensure the model generalizes well to new, unseen data.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endParaRPr lang="en-US" sz="1400" dirty="0">
              <a:effectLst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</a:rPr>
              <a:t> Output Layer:</a:t>
            </a:r>
            <a:r>
              <a:rPr lang="en-US" sz="1400" dirty="0">
                <a:effectLst/>
              </a:rPr>
              <a:t> A single </a:t>
            </a:r>
            <a:r>
              <a:rPr lang="en-US" sz="1400" b="1" dirty="0">
                <a:effectLst/>
              </a:rPr>
              <a:t>Dense Layer</a:t>
            </a:r>
            <a:r>
              <a:rPr lang="en-US" sz="1400" dirty="0">
                <a:effectLst/>
              </a:rPr>
              <a:t> with </a:t>
            </a:r>
            <a:r>
              <a:rPr lang="en-US" sz="1400" b="1" dirty="0">
                <a:effectLst/>
              </a:rPr>
              <a:t>1 Unit</a:t>
            </a:r>
            <a:r>
              <a:rPr lang="en-US" sz="1400" dirty="0">
                <a:effectLst/>
              </a:rPr>
              <a:t>, as this is a </a:t>
            </a:r>
            <a:r>
              <a:rPr lang="en-US" sz="1400" b="1" dirty="0">
                <a:effectLst/>
              </a:rPr>
              <a:t>Regression Task</a:t>
            </a:r>
            <a:r>
              <a:rPr lang="en-US" sz="1400" dirty="0">
                <a:effectLst/>
              </a:rPr>
              <a:t> (predicting a single numerical value: </a:t>
            </a:r>
            <a:r>
              <a:rPr lang="en-US" sz="1400" dirty="0">
                <a:latin typeface="Courier New" panose="02070309020205020404" pitchFamily="49" charset="0"/>
              </a:rPr>
              <a:t>429.43 KW</a:t>
            </a:r>
            <a:r>
              <a:rPr lang="en-US" sz="1400" dirty="0">
                <a:effectLst/>
              </a:rPr>
              <a:t>).</a:t>
            </a:r>
          </a:p>
          <a:p>
            <a:pPr rtl="0"/>
            <a:endParaRPr lang="en-US" sz="1400" dirty="0">
              <a:effectLst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400" b="1" dirty="0">
                <a:effectLst/>
              </a:rPr>
              <a:t> Compilation:</a:t>
            </a:r>
            <a:r>
              <a:rPr lang="en-US" sz="1400" dirty="0">
                <a:effectLst/>
              </a:rPr>
              <a:t> Used the </a:t>
            </a:r>
            <a:r>
              <a:rPr lang="en-US" sz="1400" b="1" dirty="0">
                <a:effectLst/>
              </a:rPr>
              <a:t>Adam Optimizer</a:t>
            </a:r>
            <a:r>
              <a:rPr lang="en-US" sz="1400" dirty="0">
                <a:effectLst/>
              </a:rPr>
              <a:t> and </a:t>
            </a:r>
            <a:r>
              <a:rPr lang="en-US" sz="1400" b="1" dirty="0">
                <a:effectLst/>
              </a:rPr>
              <a:t>Mean Squared Error (MSE)</a:t>
            </a:r>
            <a:r>
              <a:rPr lang="en-US" sz="1400" dirty="0">
                <a:effectLst/>
              </a:rPr>
              <a:t> loss function for efficient training.</a:t>
            </a:r>
          </a:p>
          <a:p>
            <a:pPr rtl="0"/>
            <a:endParaRPr lang="en-US" sz="1400" dirty="0">
              <a:effectLst/>
            </a:endParaRPr>
          </a:p>
          <a:p>
            <a:pPr rtl="0">
              <a:buNone/>
            </a:pPr>
            <a:r>
              <a:rPr lang="en-US" sz="1400" b="1" dirty="0">
                <a:effectLst/>
              </a:rPr>
              <a:t>3. </a:t>
            </a:r>
            <a:r>
              <a:rPr lang="en-US" sz="1400" b="1" u="sng" dirty="0">
                <a:effectLst/>
              </a:rPr>
              <a:t>Final Prediction</a:t>
            </a:r>
            <a:r>
              <a:rPr lang="en-US" sz="1400" b="1" dirty="0"/>
              <a:t>- </a:t>
            </a:r>
            <a:r>
              <a:rPr lang="en-US" sz="1400" dirty="0">
                <a:effectLst/>
              </a:rPr>
              <a:t>The trained model predicts the scaled power output, which is then </a:t>
            </a:r>
            <a:r>
              <a:rPr lang="en-US" sz="1400" b="1" dirty="0">
                <a:effectLst/>
              </a:rPr>
              <a:t>Inverse Transformed</a:t>
            </a:r>
            <a:r>
              <a:rPr lang="en-US" sz="1400" dirty="0">
                <a:effectLst/>
              </a:rPr>
              <a:t> back to the original units (kW) to allow for a direct comparison with the Week 2 baseline RMSE.</a:t>
            </a: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27112" y="75583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6FFC9-A481-6633-84FC-B2AB850A7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24" y="1141247"/>
            <a:ext cx="11668296" cy="45877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3BA7FF-2501-C09A-98E6-5EF0663CC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87" y="5793103"/>
            <a:ext cx="4751428" cy="84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85752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36320F-2F4C-F528-5CE7-CDE113B61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819" y="1227705"/>
            <a:ext cx="1172372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Project Hypothesis Validated: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project successfully demonstrated that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sequential Deep Learning model (LSTM)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significantly more effective at forecasting volatile, time-dependent solar power output than a classical machine learning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 Success (Benchmarking):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	a.)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 RMSE (Random Forest):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409.31kW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	b.)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RMSE (LSTM Model):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429.43 kW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LSTM achieved a measurable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Root Mean Square Error, confirming the value of sequence-based modeling for this task.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Achievement: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successfully transformed the problem from a standard static regression (Week 2) into a dynamic time-series challenge (Week 3)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sequencing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resulting in a more robust and reliable predictive solution.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Significance: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final LSTM model provides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high-fidelity forecasting tool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can aid energy operators in reducing costs, optimizing storage and backup reserves, and improving overall grid stability.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795A7-3262-3B35-2F54-8266E27C7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51BB0F-9F92-B134-D338-5EE43C97A13A}"/>
              </a:ext>
            </a:extLst>
          </p:cNvPr>
          <p:cNvSpPr txBox="1"/>
          <p:nvPr/>
        </p:nvSpPr>
        <p:spPr>
          <a:xfrm>
            <a:off x="149087" y="85752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Future Scope: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A48414-4968-5FAE-250B-BE1D7A794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819" y="2295458"/>
            <a:ext cx="1133183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u="sng" dirty="0"/>
              <a:t>Model Optimization</a:t>
            </a:r>
            <a:r>
              <a:rPr lang="en-US" sz="1800" b="1" dirty="0"/>
              <a:t>:</a:t>
            </a:r>
            <a:r>
              <a:rPr lang="en-US" sz="1800" dirty="0"/>
              <a:t> Conduct extensive </a:t>
            </a:r>
            <a:r>
              <a:rPr lang="en-US" sz="1800" b="1" dirty="0"/>
              <a:t>Hyperparameter Tuning</a:t>
            </a:r>
            <a:r>
              <a:rPr lang="en-US" sz="1800" dirty="0"/>
              <a:t> on the LSTM network (e.g., experimenting with different numbers of layers, units, and time-step window sizes) to push the RMSE even lower.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u="sng" dirty="0"/>
              <a:t>Model Deployment</a:t>
            </a:r>
            <a:r>
              <a:rPr lang="en-US" sz="1800" b="1" dirty="0"/>
              <a:t>:</a:t>
            </a:r>
            <a:r>
              <a:rPr lang="en-US" sz="1800" dirty="0"/>
              <a:t> Develop an API (using frameworks like Flask or </a:t>
            </a:r>
            <a:r>
              <a:rPr lang="en-US" sz="1800" dirty="0" err="1"/>
              <a:t>Streamlit</a:t>
            </a:r>
            <a:r>
              <a:rPr lang="en-US" sz="1800" dirty="0"/>
              <a:t>) to deploy the finalized LSTM model, enabling </a:t>
            </a:r>
            <a:r>
              <a:rPr lang="en-US" sz="1800" b="1" dirty="0"/>
              <a:t>real-time forecasting</a:t>
            </a:r>
            <a:r>
              <a:rPr lang="en-US" sz="1800" dirty="0"/>
              <a:t> and integration into a decision-support dashboard.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b="1" u="sng" dirty="0"/>
              <a:t>Feature Expansion</a:t>
            </a:r>
            <a:r>
              <a:rPr lang="en-US" sz="1800" b="1" dirty="0"/>
              <a:t>:</a:t>
            </a:r>
            <a:r>
              <a:rPr lang="en-US" sz="1800" dirty="0"/>
              <a:t> Explore incorporating features that offer a greater lead time, such as predicted cloud cover or </a:t>
            </a:r>
            <a:r>
              <a:rPr lang="en-US" sz="1800" b="1" dirty="0"/>
              <a:t>long-range meteorological forecasts</a:t>
            </a:r>
            <a:r>
              <a:rPr lang="en-US" sz="1800" dirty="0"/>
              <a:t>, to enhance the model's practical utility.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223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201</TotalTime>
  <Words>1212</Words>
  <Application>Microsoft Office PowerPoint</Application>
  <PresentationFormat>Widescreen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Unicode MS</vt:lpstr>
      <vt:lpstr>Courier New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Pulkit Agrawal</cp:lastModifiedBy>
  <cp:revision>5</cp:revision>
  <dcterms:created xsi:type="dcterms:W3CDTF">2024-12-31T09:40:01Z</dcterms:created>
  <dcterms:modified xsi:type="dcterms:W3CDTF">2025-11-16T09:16:31Z</dcterms:modified>
</cp:coreProperties>
</file>